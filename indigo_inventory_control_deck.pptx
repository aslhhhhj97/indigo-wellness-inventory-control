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2FnXRdlR5zz460/JuNucKHsT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7D0611-CF5F-4B5B-96FF-99CC0D73F358}">
  <a:tblStyle styleId="{9D7D0611-CF5F-4B5B-96FF-99CC0D73F3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7A5A"/>
              </a:solidFill>
              <a:effectLst/>
            </c:spPr>
          </c:dPt>
          <c:dPt>
            <c:idx val="1"/>
            <c:bubble3D val="0"/>
            <c:spPr>
              <a:solidFill>
                <a:srgbClr val="A07830"/>
              </a:solidFill>
              <a:effectLst/>
            </c:spPr>
          </c:dPt>
          <c:dPt>
            <c:idx val="2"/>
            <c:bubble3D val="0"/>
            <c:spPr>
              <a:solidFill>
                <a:srgbClr val="9A383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OK</c:v>
                </c:pt>
                <c:pt idx="1">
                  <c:v>Low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ECEE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1drv.ms/v/c/e9d2284f6ea23240/IQCg4HjH5VWrTrvl-WWLt1XrASZOxR2EwFX-K8anK6O2Vbc?e=IdLnjR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9d4c886a_1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9a9d4c886a_1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9a9d4c886a_1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89c17f5f_7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d89c17f5f_7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AI Info Extraction </a:t>
            </a:r>
            <a:r>
              <a:rPr lang="en-US" sz="1100">
                <a:solidFill>
                  <a:srgbClr val="6B6E85"/>
                </a:solidFill>
              </a:rPr>
              <a:t>Upload a PDF, image, or email —</a:t>
            </a:r>
            <a:r>
              <a:rPr lang="en-US" sz="1100"/>
              <a:t> </a:t>
            </a:r>
            <a:r>
              <a:rPr lang="en-US" sz="1100">
                <a:solidFill>
                  <a:srgbClr val="6B6E85"/>
                </a:solidFill>
              </a:rPr>
              <a:t>AI reads supplier, ETA, products, and quantities automatically.</a:t>
            </a:r>
            <a:endParaRPr sz="1100">
              <a:solidFill>
                <a:srgbClr val="6B6E8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Status Tracking </a:t>
            </a:r>
            <a:r>
              <a:rPr lang="en-US" sz="1100">
                <a:solidFill>
                  <a:srgbClr val="6B6E85"/>
                </a:solidFill>
              </a:rPr>
              <a:t>Expected → In Transit → Received → Returned · Delayed. ETA countdown per shipment.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Auto Inventory Update </a:t>
            </a:r>
            <a:r>
              <a:rPr lang="en-US" sz="1100">
                <a:solidFill>
                  <a:srgbClr val="6B6E85"/>
                </a:solidFill>
              </a:rPr>
              <a:t>Mark a shipment Received and</a:t>
            </a:r>
            <a:r>
              <a:rPr lang="en-US" sz="1100"/>
              <a:t> </a:t>
            </a:r>
            <a:r>
              <a:rPr lang="en-US" sz="1100">
                <a:solidFill>
                  <a:srgbClr val="6B6E85"/>
                </a:solidFill>
              </a:rPr>
              <a:t>all product quantities update</a:t>
            </a:r>
            <a:r>
              <a:rPr lang="en-US" sz="1100"/>
              <a:t> </a:t>
            </a:r>
            <a:r>
              <a:rPr lang="en-US" sz="1100">
                <a:solidFill>
                  <a:srgbClr val="6B6E85"/>
                </a:solidFill>
              </a:rPr>
              <a:t>at the correct location instantly.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Location Assignment </a:t>
            </a:r>
            <a:r>
              <a:rPr lang="en-US" sz="1100">
                <a:solidFill>
                  <a:srgbClr val="6B6E85"/>
                </a:solidFill>
              </a:rPr>
              <a:t>Each shipment delivered to</a:t>
            </a:r>
            <a:r>
              <a:rPr lang="en-US" sz="1100"/>
              <a:t> </a:t>
            </a:r>
            <a:r>
              <a:rPr lang="en-US" sz="1100">
                <a:solidFill>
                  <a:srgbClr val="6B6E85"/>
                </a:solidFill>
              </a:rPr>
              <a:t>Stamford or Westport.</a:t>
            </a:r>
            <a:r>
              <a:rPr lang="en-US" sz="1100"/>
              <a:t> </a:t>
            </a:r>
            <a:r>
              <a:rPr lang="en-US" sz="1100">
                <a:solidFill>
                  <a:srgbClr val="6B6E85"/>
                </a:solidFill>
              </a:rPr>
              <a:t>Quantities credited correctly.</a:t>
            </a:r>
            <a:endParaRPr sz="1100">
              <a:solidFill>
                <a:srgbClr val="6B6E85"/>
              </a:solidFill>
            </a:endParaRPr>
          </a:p>
        </p:txBody>
      </p:sp>
      <p:sp>
        <p:nvSpPr>
          <p:cNvPr id="163" name="Google Shape;163;g3dd89c17f5f_7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89c17f5f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dd89c17f5f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dd89c17f5f_1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89c17f5f_1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dd89c17f5f_1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https://1drv.ms/v/c/e9d2284f6ea23240/IQCg4HjH5VWrTrvl-WWLt1XrASZOxR2EwFX-K8anK6O2Vbc?e=IdLnjR</a:t>
            </a:r>
            <a:r>
              <a:rPr lang="en-US"/>
              <a:t>   </a:t>
            </a:r>
            <a:endParaRPr/>
          </a:p>
        </p:txBody>
      </p:sp>
      <p:sp>
        <p:nvSpPr>
          <p:cNvPr id="214" name="Google Shape;214;g3dd89c17f5f_1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Drxn5MBEv07kp3A6OrbnJFtods36AocG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4580"/>
          </a:solidFill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AB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A8AABF"/>
                </a:solidFill>
                <a:latin typeface="Georgia"/>
                <a:ea typeface="Georgia"/>
                <a:cs typeface="Georgia"/>
                <a:sym typeface="Georgia"/>
              </a:rPr>
              <a:t>INDIGO WELLNESS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55448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Inventory Control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260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A smarter way to track, locate, and manage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products across Stamford and Westport.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935835" y="1927556"/>
            <a:ext cx="3200400" cy="3200400"/>
          </a:xfrm>
          <a:prstGeom prst="ellipse">
            <a:avLst/>
          </a:prstGeom>
          <a:solidFill>
            <a:srgbClr val="2D3460">
              <a:alpha val="60000"/>
            </a:srgbClr>
          </a:solidFill>
          <a:ln cap="flat" cmpd="sng" w="12700">
            <a:solidFill>
              <a:srgbClr val="2D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089875" y="1005845"/>
            <a:ext cx="2011800" cy="2011800"/>
          </a:xfrm>
          <a:prstGeom prst="ellipse">
            <a:avLst/>
          </a:prstGeom>
          <a:solidFill>
            <a:srgbClr val="3D4580">
              <a:alpha val="70196"/>
            </a:srgbClr>
          </a:solidFill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7500" y="0"/>
            <a:ext cx="9144000" cy="10059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34700" y="0"/>
            <a:ext cx="2050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841400" y="344225"/>
            <a:ext cx="689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What Indigo is experiencing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234440"/>
            <a:ext cx="265176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4173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148840"/>
            <a:ext cx="2103120" cy="36576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2286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Running Out of Stock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5" y="2693875"/>
            <a:ext cx="2441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Items sell out before reorders are placed.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No alerts, no reorder triggers, no forecast.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91840" y="1234440"/>
            <a:ext cx="265176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91840" y="14173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66160" y="2148840"/>
            <a:ext cx="2103120" cy="36576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91840" y="2286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No Centralized System for Inventory Location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29000" y="2693910"/>
            <a:ext cx="237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Staff </a:t>
            </a:r>
            <a:r>
              <a:rPr lang="en-US" sz="1100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have limited visibility of what each location has in stock</a:t>
            </a: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Time is lost searching across two sites. The incoming shipments are ignored too.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17920" y="1234440"/>
            <a:ext cx="265176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17920" y="14173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92240" y="2148840"/>
            <a:ext cx="2103120" cy="36576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2286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Sensitive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355075" y="2693900"/>
            <a:ext cx="23775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Many transactions and messages contain sensitive, HIPAA-prohibited information that cannot be processed by AI unfiltered.</a:t>
            </a:r>
            <a:endParaRPr b="0" i="0" sz="1100" u="none" cap="none" strike="noStrike">
              <a:solidFill>
                <a:srgbClr val="6B6E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ll death certificate color icon vector isolated illustration (Provided by Getty Images)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2725" y="1473375"/>
            <a:ext cx="640077" cy="640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THE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A single tool built for how Indigo actually operates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05840" y="1207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Track per location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005840" y="14447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Live stock levels for Stamford and Westport separately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585216" y="1691640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365760" y="1938528"/>
            <a:ext cx="502920" cy="5029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19385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05840" y="19568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Auto reorder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05840" y="219456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Reorder points calculated from batch size + shipping lead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585216" y="2441448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05840" y="27066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Shipment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05840" y="294436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Log incoming orders, mark received, auto-update quantities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585216" y="3191256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3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05840" y="34564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Transfer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5840" y="369417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Record every inter-location move with reason and audit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585216" y="3941064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05840" y="42062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AI-powered import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05840" y="444398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Paste or upload any order information, AI extracts products instantly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217920" y="1188720"/>
            <a:ext cx="2651760" cy="3749040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309360" y="137160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Built as 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single HTML 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309360" y="2194560"/>
            <a:ext cx="2468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No installation.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No login.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Works in any browser.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Data stored locally.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675120" y="3566160"/>
            <a:ext cx="1737360" cy="54864"/>
          </a:xfrm>
          <a:prstGeom prst="rect">
            <a:avLst/>
          </a:prstGeom>
          <a:solidFill>
            <a:srgbClr val="3D4580"/>
          </a:solidFill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Offline capable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↻ Auto-saves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FEATURE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384048"/>
            <a:ext cx="82296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Dashboard &amp; Inventory 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123444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📊 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" name="Google Shape;94;p4"/>
          <p:cNvGraphicFramePr/>
          <p:nvPr/>
        </p:nvGraphicFramePr>
        <p:xfrm>
          <a:off x="548640" y="1691640"/>
          <a:ext cx="2011680" cy="2011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5" name="Google Shape;95;p4"/>
          <p:cNvSpPr/>
          <p:nvPr/>
        </p:nvSpPr>
        <p:spPr>
          <a:xfrm>
            <a:off x="867190" y="365759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A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A5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 OK  </a:t>
            </a:r>
            <a:r>
              <a:rPr b="1" i="0" lang="en-US" sz="1100" u="none" cap="none" strike="noStrike">
                <a:solidFill>
                  <a:srgbClr val="A078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 Low  </a:t>
            </a:r>
            <a:r>
              <a:rPr b="1" i="0" lang="en-US" sz="1100" u="none" cap="none" strike="noStrike">
                <a:solidFill>
                  <a:srgbClr val="9A383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 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651760" y="178308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Stock level by 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with Stamford &amp; Westport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donut charts side by side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36083" y="3977625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Needs attention alerts show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critical items instantly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846320" y="12344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≡  All Items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4"/>
          <p:cNvGraphicFramePr/>
          <p:nvPr/>
        </p:nvGraphicFramePr>
        <p:xfrm>
          <a:off x="48463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{9D7D0611-CF5F-4B5B-96FF-99CC0D73F358}</a:tableStyleId>
              </a:tblPr>
              <a:tblGrid>
                <a:gridCol w="1097275"/>
                <a:gridCol w="640075"/>
                <a:gridCol w="731525"/>
                <a:gridCol w="708225"/>
                <a:gridCol w="57195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0E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0E8"/>
                          </a:solidFill>
                        </a:rPr>
                        <a:t>Item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0E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0E8"/>
                          </a:solidFill>
                        </a:rPr>
                        <a:t>SKU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0E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0E8"/>
                          </a:solidFill>
                        </a:rPr>
                        <a:t>Stamford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0E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0E8"/>
                          </a:solidFill>
                        </a:rPr>
                        <a:t>Westport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0E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0E8"/>
                          </a:solidFill>
                        </a:rPr>
                        <a:t>Status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Product A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42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28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7A5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4A7A5A"/>
                          </a:solidFill>
                        </a:rPr>
                        <a:t>OK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Product 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383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9A3838"/>
                          </a:solidFill>
                        </a:rPr>
                        <a:t>Critical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Product F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383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9A3838"/>
                          </a:solidFill>
                        </a:rPr>
                        <a:t>Critical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Product B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</a:rPr>
                        <a:t>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783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A07830"/>
                          </a:solidFill>
                        </a:rPr>
                        <a:t>Low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4"/>
          <p:cNvSpPr/>
          <p:nvPr/>
        </p:nvSpPr>
        <p:spPr>
          <a:xfrm>
            <a:off x="4846320" y="320040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Per-location quantities · Stock level 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SKU field · Status badge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Auto daily usage rate (↻ auto badge)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9d4c886a_14_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9a9d4c886a_14_0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FEATURE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9a9d4c886a_14_0"/>
          <p:cNvSpPr/>
          <p:nvPr/>
        </p:nvSpPr>
        <p:spPr>
          <a:xfrm>
            <a:off x="457200" y="384048"/>
            <a:ext cx="82296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Usage Trends &amp; Smart Reorder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9a9d4c886a_14_0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9a9d4c886a_14_0"/>
          <p:cNvSpPr/>
          <p:nvPr/>
        </p:nvSpPr>
        <p:spPr>
          <a:xfrm>
            <a:off x="548640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Daily Usage Rates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9a9d4c886a_14_0"/>
          <p:cNvSpPr/>
          <p:nvPr/>
        </p:nvSpPr>
        <p:spPr>
          <a:xfrm>
            <a:off x="548640" y="388620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↻ Auto-calculated from quantity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over the last 7 days — updates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9a9d4c886a_14_0"/>
          <p:cNvSpPr/>
          <p:nvPr/>
        </p:nvSpPr>
        <p:spPr>
          <a:xfrm>
            <a:off x="4754880" y="1097280"/>
            <a:ext cx="4023300" cy="384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9a9d4c886a_14_0"/>
          <p:cNvSpPr/>
          <p:nvPr/>
        </p:nvSpPr>
        <p:spPr>
          <a:xfrm>
            <a:off x="4937760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Stockout Forecast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9a9d4c886a_14_0"/>
          <p:cNvSpPr/>
          <p:nvPr/>
        </p:nvSpPr>
        <p:spPr>
          <a:xfrm>
            <a:off x="4937760" y="1645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A"/>
                </a:solidFill>
                <a:latin typeface="Calibri"/>
                <a:ea typeface="Calibri"/>
                <a:cs typeface="Calibri"/>
                <a:sym typeface="Calibri"/>
              </a:rPr>
              <a:t>Product 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9a9d4c886a_14_0"/>
          <p:cNvSpPr/>
          <p:nvPr/>
        </p:nvSpPr>
        <p:spPr>
          <a:xfrm>
            <a:off x="6049950" y="1691615"/>
            <a:ext cx="1645800" cy="22860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0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9a9d4c886a_14_0"/>
          <p:cNvSpPr/>
          <p:nvPr/>
        </p:nvSpPr>
        <p:spPr>
          <a:xfrm>
            <a:off x="6049950" y="1691628"/>
            <a:ext cx="329100" cy="228600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a9d4c886a_14_0"/>
          <p:cNvSpPr/>
          <p:nvPr/>
        </p:nvSpPr>
        <p:spPr>
          <a:xfrm>
            <a:off x="7238490" y="1645883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3838"/>
                </a:solidFill>
                <a:latin typeface="Calibri"/>
                <a:ea typeface="Calibri"/>
                <a:cs typeface="Calibri"/>
                <a:sym typeface="Calibri"/>
              </a:rPr>
              <a:t>6d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9a9d4c886a_14_0"/>
          <p:cNvSpPr/>
          <p:nvPr/>
        </p:nvSpPr>
        <p:spPr>
          <a:xfrm>
            <a:off x="4937760" y="21945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A"/>
                </a:solidFill>
                <a:latin typeface="Calibri"/>
                <a:ea typeface="Calibri"/>
                <a:cs typeface="Calibri"/>
                <a:sym typeface="Calibri"/>
              </a:rPr>
              <a:t>Product 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9a9d4c886a_14_0"/>
          <p:cNvSpPr/>
          <p:nvPr/>
        </p:nvSpPr>
        <p:spPr>
          <a:xfrm>
            <a:off x="6049938" y="2240268"/>
            <a:ext cx="1645800" cy="22860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0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a9d4c886a_14_0"/>
          <p:cNvSpPr/>
          <p:nvPr/>
        </p:nvSpPr>
        <p:spPr>
          <a:xfrm>
            <a:off x="6049938" y="2240268"/>
            <a:ext cx="329100" cy="228600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9a9d4c886a_14_0"/>
          <p:cNvSpPr/>
          <p:nvPr/>
        </p:nvSpPr>
        <p:spPr>
          <a:xfrm>
            <a:off x="7238490" y="2194535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3838"/>
                </a:solidFill>
                <a:latin typeface="Calibri"/>
                <a:ea typeface="Calibri"/>
                <a:cs typeface="Calibri"/>
                <a:sym typeface="Calibri"/>
              </a:rPr>
              <a:t>6d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9a9d4c886a_14_0"/>
          <p:cNvSpPr/>
          <p:nvPr/>
        </p:nvSpPr>
        <p:spPr>
          <a:xfrm>
            <a:off x="4937760" y="2743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A"/>
                </a:solidFill>
                <a:latin typeface="Calibri"/>
                <a:ea typeface="Calibri"/>
                <a:cs typeface="Calibri"/>
                <a:sym typeface="Calibri"/>
              </a:rPr>
              <a:t>Product 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9a9d4c886a_14_0"/>
          <p:cNvSpPr/>
          <p:nvPr/>
        </p:nvSpPr>
        <p:spPr>
          <a:xfrm>
            <a:off x="6049950" y="2788920"/>
            <a:ext cx="1645800" cy="22860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0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a9d4c886a_14_0"/>
          <p:cNvSpPr/>
          <p:nvPr/>
        </p:nvSpPr>
        <p:spPr>
          <a:xfrm>
            <a:off x="6049950" y="2788920"/>
            <a:ext cx="384000" cy="228600"/>
          </a:xfrm>
          <a:prstGeom prst="rect">
            <a:avLst/>
          </a:prstGeom>
          <a:solidFill>
            <a:srgbClr val="9A3838"/>
          </a:solidFill>
          <a:ln cap="flat" cmpd="sng" w="12700">
            <a:solidFill>
              <a:srgbClr val="9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a9d4c886a_14_0"/>
          <p:cNvSpPr/>
          <p:nvPr/>
        </p:nvSpPr>
        <p:spPr>
          <a:xfrm>
            <a:off x="7238490" y="2743175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3838"/>
                </a:solidFill>
                <a:latin typeface="Calibri"/>
                <a:ea typeface="Calibri"/>
                <a:cs typeface="Calibri"/>
                <a:sym typeface="Calibri"/>
              </a:rPr>
              <a:t>7d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9a9d4c886a_14_0"/>
          <p:cNvSpPr/>
          <p:nvPr/>
        </p:nvSpPr>
        <p:spPr>
          <a:xfrm>
            <a:off x="4937760" y="32918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A"/>
                </a:solidFill>
                <a:latin typeface="Calibri"/>
                <a:ea typeface="Calibri"/>
                <a:cs typeface="Calibri"/>
                <a:sym typeface="Calibri"/>
              </a:rPr>
              <a:t>Product 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9a9d4c886a_14_0"/>
          <p:cNvSpPr/>
          <p:nvPr/>
        </p:nvSpPr>
        <p:spPr>
          <a:xfrm>
            <a:off x="6049888" y="3337573"/>
            <a:ext cx="1645800" cy="22860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0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9a9d4c886a_14_0"/>
          <p:cNvSpPr/>
          <p:nvPr/>
        </p:nvSpPr>
        <p:spPr>
          <a:xfrm>
            <a:off x="6049950" y="3337573"/>
            <a:ext cx="384000" cy="228600"/>
          </a:xfrm>
          <a:prstGeom prst="rect">
            <a:avLst/>
          </a:prstGeom>
          <a:solidFill>
            <a:srgbClr val="A07830"/>
          </a:solidFill>
          <a:ln cap="flat" cmpd="sng" w="12700">
            <a:solidFill>
              <a:srgbClr val="A07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9a9d4c886a_14_0"/>
          <p:cNvSpPr/>
          <p:nvPr/>
        </p:nvSpPr>
        <p:spPr>
          <a:xfrm>
            <a:off x="7238490" y="3280365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78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07830"/>
                </a:solidFill>
                <a:latin typeface="Calibri"/>
                <a:ea typeface="Calibri"/>
                <a:cs typeface="Calibri"/>
                <a:sym typeface="Calibri"/>
              </a:rPr>
              <a:t>7d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9a9d4c886a_14_0"/>
          <p:cNvSpPr/>
          <p:nvPr/>
        </p:nvSpPr>
        <p:spPr>
          <a:xfrm>
            <a:off x="4937760" y="38404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A"/>
                </a:solidFill>
                <a:latin typeface="Calibri"/>
                <a:ea typeface="Calibri"/>
                <a:cs typeface="Calibri"/>
                <a:sym typeface="Calibri"/>
              </a:rPr>
              <a:t>Product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9a9d4c886a_14_0"/>
          <p:cNvSpPr/>
          <p:nvPr/>
        </p:nvSpPr>
        <p:spPr>
          <a:xfrm>
            <a:off x="6049938" y="3909050"/>
            <a:ext cx="1645800" cy="228600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0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9a9d4c886a_14_0"/>
          <p:cNvSpPr/>
          <p:nvPr/>
        </p:nvSpPr>
        <p:spPr>
          <a:xfrm>
            <a:off x="6049950" y="3909063"/>
            <a:ext cx="877800" cy="228600"/>
          </a:xfrm>
          <a:prstGeom prst="rect">
            <a:avLst/>
          </a:prstGeom>
          <a:solidFill>
            <a:srgbClr val="A07830"/>
          </a:solidFill>
          <a:ln cap="flat" cmpd="sng" w="12700">
            <a:solidFill>
              <a:srgbClr val="A07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9a9d4c886a_14_0"/>
          <p:cNvSpPr/>
          <p:nvPr/>
        </p:nvSpPr>
        <p:spPr>
          <a:xfrm>
            <a:off x="7238490" y="3863318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78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07830"/>
                </a:solidFill>
                <a:latin typeface="Calibri"/>
                <a:ea typeface="Calibri"/>
                <a:cs typeface="Calibri"/>
                <a:sym typeface="Calibri"/>
              </a:rPr>
              <a:t>16d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9a9d4c886a_14_0"/>
          <p:cNvSpPr/>
          <p:nvPr/>
        </p:nvSpPr>
        <p:spPr>
          <a:xfrm>
            <a:off x="4937760" y="4480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Formula:  Total Qty ÷ Daily Use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9a9d4c886a_14_0"/>
          <p:cNvSpPr/>
          <p:nvPr/>
        </p:nvSpPr>
        <p:spPr>
          <a:xfrm>
            <a:off x="2276856" y="1600200"/>
            <a:ext cx="1645920" cy="118872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EC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9d4c886a_14_0"/>
          <p:cNvSpPr/>
          <p:nvPr/>
        </p:nvSpPr>
        <p:spPr>
          <a:xfrm>
            <a:off x="2276856" y="1600200"/>
            <a:ext cx="1470355" cy="118872"/>
          </a:xfrm>
          <a:prstGeom prst="rect">
            <a:avLst/>
          </a:prstGeom>
          <a:solidFill>
            <a:srgbClr val="5B8FA8"/>
          </a:solidFill>
          <a:ln cap="flat" cmpd="sng" w="12700">
            <a:solidFill>
              <a:srgbClr val="5B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9d4c886a_14_0"/>
          <p:cNvSpPr/>
          <p:nvPr/>
        </p:nvSpPr>
        <p:spPr>
          <a:xfrm>
            <a:off x="3885779" y="1506488"/>
            <a:ext cx="68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6.7/day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g39a9d4c886a_14_0"/>
          <p:cNvCxnSpPr/>
          <p:nvPr/>
        </p:nvCxnSpPr>
        <p:spPr>
          <a:xfrm>
            <a:off x="448056" y="1965960"/>
            <a:ext cx="3794760" cy="0"/>
          </a:xfrm>
          <a:prstGeom prst="straightConnector1">
            <a:avLst/>
          </a:prstGeom>
          <a:noFill/>
          <a:ln cap="flat" cmpd="sng" w="9525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g39a9d4c886a_14_0"/>
          <p:cNvSpPr/>
          <p:nvPr/>
        </p:nvSpPr>
        <p:spPr>
          <a:xfrm>
            <a:off x="448056" y="2020824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Nourishing Body Oil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9a9d4c886a_14_0"/>
          <p:cNvSpPr/>
          <p:nvPr/>
        </p:nvSpPr>
        <p:spPr>
          <a:xfrm>
            <a:off x="2276856" y="2075688"/>
            <a:ext cx="1645920" cy="118872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EC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9d4c886a_14_0"/>
          <p:cNvSpPr/>
          <p:nvPr/>
        </p:nvSpPr>
        <p:spPr>
          <a:xfrm>
            <a:off x="2276856" y="2075688"/>
            <a:ext cx="1316736" cy="118872"/>
          </a:xfrm>
          <a:prstGeom prst="rect">
            <a:avLst/>
          </a:prstGeom>
          <a:solidFill>
            <a:srgbClr val="7A9E87"/>
          </a:solidFill>
          <a:ln cap="flat" cmpd="sng" w="12700">
            <a:solidFill>
              <a:srgbClr val="7A9E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9d4c886a_14_0"/>
          <p:cNvSpPr/>
          <p:nvPr/>
        </p:nvSpPr>
        <p:spPr>
          <a:xfrm>
            <a:off x="3885779" y="1981976"/>
            <a:ext cx="68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6.0/day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39a9d4c886a_14_0"/>
          <p:cNvCxnSpPr/>
          <p:nvPr/>
        </p:nvCxnSpPr>
        <p:spPr>
          <a:xfrm>
            <a:off x="448056" y="2441448"/>
            <a:ext cx="3794760" cy="0"/>
          </a:xfrm>
          <a:prstGeom prst="straightConnector1">
            <a:avLst/>
          </a:prstGeom>
          <a:noFill/>
          <a:ln cap="flat" cmpd="sng" w="9525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g39a9d4c886a_14_0"/>
          <p:cNvSpPr/>
          <p:nvPr/>
        </p:nvSpPr>
        <p:spPr>
          <a:xfrm>
            <a:off x="448056" y="249631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Beekeepers Propolis Spray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9a9d4c886a_14_0"/>
          <p:cNvSpPr/>
          <p:nvPr/>
        </p:nvSpPr>
        <p:spPr>
          <a:xfrm>
            <a:off x="2276856" y="2551176"/>
            <a:ext cx="1645920" cy="118872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EC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9d4c886a_14_0"/>
          <p:cNvSpPr/>
          <p:nvPr/>
        </p:nvSpPr>
        <p:spPr>
          <a:xfrm>
            <a:off x="2276856" y="2551176"/>
            <a:ext cx="1228954" cy="118872"/>
          </a:xfrm>
          <a:prstGeom prst="rect">
            <a:avLst/>
          </a:prstGeom>
          <a:solidFill>
            <a:srgbClr val="5B8FA8"/>
          </a:solidFill>
          <a:ln cap="flat" cmpd="sng" w="12700">
            <a:solidFill>
              <a:srgbClr val="5B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9d4c886a_14_0"/>
          <p:cNvSpPr/>
          <p:nvPr/>
        </p:nvSpPr>
        <p:spPr>
          <a:xfrm>
            <a:off x="3878884" y="2449487"/>
            <a:ext cx="68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5.6/day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g39a9d4c886a_14_0"/>
          <p:cNvCxnSpPr/>
          <p:nvPr/>
        </p:nvCxnSpPr>
        <p:spPr>
          <a:xfrm>
            <a:off x="448056" y="2916936"/>
            <a:ext cx="3794760" cy="0"/>
          </a:xfrm>
          <a:prstGeom prst="straightConnector1">
            <a:avLst/>
          </a:prstGeom>
          <a:noFill/>
          <a:ln cap="flat" cmpd="sng" w="9525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g39a9d4c886a_14_0"/>
          <p:cNvSpPr/>
          <p:nvPr/>
        </p:nvSpPr>
        <p:spPr>
          <a:xfrm>
            <a:off x="448056" y="29718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Magnesium Oil Spray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9a9d4c886a_14_0"/>
          <p:cNvSpPr/>
          <p:nvPr/>
        </p:nvSpPr>
        <p:spPr>
          <a:xfrm>
            <a:off x="2276856" y="3026664"/>
            <a:ext cx="1645920" cy="118872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EC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9d4c886a_14_0"/>
          <p:cNvSpPr/>
          <p:nvPr/>
        </p:nvSpPr>
        <p:spPr>
          <a:xfrm>
            <a:off x="2276856" y="3026664"/>
            <a:ext cx="1009498" cy="118872"/>
          </a:xfrm>
          <a:prstGeom prst="rect">
            <a:avLst/>
          </a:prstGeom>
          <a:solidFill>
            <a:srgbClr val="7A9E87"/>
          </a:solidFill>
          <a:ln cap="flat" cmpd="sng" w="12700">
            <a:solidFill>
              <a:srgbClr val="7A9E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9d4c886a_14_0"/>
          <p:cNvSpPr/>
          <p:nvPr/>
        </p:nvSpPr>
        <p:spPr>
          <a:xfrm>
            <a:off x="3878884" y="2948413"/>
            <a:ext cx="68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4.6/day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39a9d4c886a_14_0"/>
          <p:cNvCxnSpPr/>
          <p:nvPr/>
        </p:nvCxnSpPr>
        <p:spPr>
          <a:xfrm>
            <a:off x="448056" y="3392424"/>
            <a:ext cx="3794760" cy="0"/>
          </a:xfrm>
          <a:prstGeom prst="straightConnector1">
            <a:avLst/>
          </a:prstGeom>
          <a:noFill/>
          <a:ln cap="flat" cmpd="sng" w="9525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9a9d4c886a_14_0"/>
          <p:cNvSpPr/>
          <p:nvPr/>
        </p:nvSpPr>
        <p:spPr>
          <a:xfrm>
            <a:off x="448056" y="34472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Rosemary Hair &amp; Scalp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9a9d4c886a_14_0"/>
          <p:cNvSpPr/>
          <p:nvPr/>
        </p:nvSpPr>
        <p:spPr>
          <a:xfrm>
            <a:off x="2276856" y="3502152"/>
            <a:ext cx="1645920" cy="118872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EC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9d4c886a_14_0"/>
          <p:cNvSpPr/>
          <p:nvPr/>
        </p:nvSpPr>
        <p:spPr>
          <a:xfrm>
            <a:off x="2276856" y="3502152"/>
            <a:ext cx="899770" cy="118872"/>
          </a:xfrm>
          <a:prstGeom prst="rect">
            <a:avLst/>
          </a:prstGeom>
          <a:solidFill>
            <a:srgbClr val="7A9E87"/>
          </a:solidFill>
          <a:ln cap="flat" cmpd="sng" w="12700">
            <a:solidFill>
              <a:srgbClr val="7A9E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9d4c886a_14_0"/>
          <p:cNvSpPr/>
          <p:nvPr/>
        </p:nvSpPr>
        <p:spPr>
          <a:xfrm>
            <a:off x="3885784" y="3417338"/>
            <a:ext cx="68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F3A"/>
                </a:solidFill>
                <a:latin typeface="Arial"/>
                <a:ea typeface="Arial"/>
                <a:cs typeface="Arial"/>
                <a:sym typeface="Arial"/>
              </a:rPr>
              <a:t>4.1/day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9a9d4c886a_14_0"/>
          <p:cNvSpPr/>
          <p:nvPr/>
        </p:nvSpPr>
        <p:spPr>
          <a:xfrm>
            <a:off x="439881" y="1544417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A1F3A"/>
                </a:solidFill>
              </a:rPr>
              <a:t>Indigo 24K Gold Ear Seeds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89c17f5f_7_22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d89c17f5f_7_22"/>
          <p:cNvSpPr/>
          <p:nvPr/>
        </p:nvSpPr>
        <p:spPr>
          <a:xfrm>
            <a:off x="45720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FEATURE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d89c17f5f_7_22"/>
          <p:cNvSpPr/>
          <p:nvPr/>
        </p:nvSpPr>
        <p:spPr>
          <a:xfrm>
            <a:off x="457200" y="384048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Functions of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d89c17f5f_7_22"/>
          <p:cNvSpPr/>
          <p:nvPr/>
        </p:nvSpPr>
        <p:spPr>
          <a:xfrm>
            <a:off x="320040" y="1143000"/>
            <a:ext cx="4023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d89c17f5f_7_22"/>
          <p:cNvSpPr/>
          <p:nvPr/>
        </p:nvSpPr>
        <p:spPr>
          <a:xfrm>
            <a:off x="320040" y="1143000"/>
            <a:ext cx="63900" cy="16917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dd89c17f5f_7_22"/>
          <p:cNvSpPr/>
          <p:nvPr/>
        </p:nvSpPr>
        <p:spPr>
          <a:xfrm>
            <a:off x="1044750" y="1815125"/>
            <a:ext cx="23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📄  AI </a:t>
            </a:r>
            <a:r>
              <a:rPr b="1" lang="en-US" sz="1300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Info</a:t>
            </a: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d89c17f5f_7_22"/>
          <p:cNvSpPr/>
          <p:nvPr/>
        </p:nvSpPr>
        <p:spPr>
          <a:xfrm>
            <a:off x="4754880" y="1143000"/>
            <a:ext cx="4023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dd89c17f5f_7_22"/>
          <p:cNvSpPr/>
          <p:nvPr/>
        </p:nvSpPr>
        <p:spPr>
          <a:xfrm>
            <a:off x="4754880" y="1143000"/>
            <a:ext cx="63900" cy="16917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dd89c17f5f_7_22"/>
          <p:cNvSpPr/>
          <p:nvPr/>
        </p:nvSpPr>
        <p:spPr>
          <a:xfrm>
            <a:off x="5779417" y="1869988"/>
            <a:ext cx="197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🚚  Status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d89c17f5f_7_22"/>
          <p:cNvSpPr/>
          <p:nvPr/>
        </p:nvSpPr>
        <p:spPr>
          <a:xfrm>
            <a:off x="320040" y="3017520"/>
            <a:ext cx="4023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d89c17f5f_7_22"/>
          <p:cNvSpPr/>
          <p:nvPr/>
        </p:nvSpPr>
        <p:spPr>
          <a:xfrm>
            <a:off x="320040" y="3017520"/>
            <a:ext cx="63900" cy="16917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d89c17f5f_7_22"/>
          <p:cNvSpPr/>
          <p:nvPr/>
        </p:nvSpPr>
        <p:spPr>
          <a:xfrm>
            <a:off x="1044750" y="3689650"/>
            <a:ext cx="2426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✓  Auto Inventory 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d89c17f5f_7_22"/>
          <p:cNvSpPr/>
          <p:nvPr/>
        </p:nvSpPr>
        <p:spPr>
          <a:xfrm>
            <a:off x="4754880" y="3017520"/>
            <a:ext cx="4023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dd89c17f5f_7_22"/>
          <p:cNvSpPr/>
          <p:nvPr/>
        </p:nvSpPr>
        <p:spPr>
          <a:xfrm>
            <a:off x="4754880" y="3017520"/>
            <a:ext cx="63900" cy="16917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dd89c17f5f_7_22"/>
          <p:cNvSpPr/>
          <p:nvPr/>
        </p:nvSpPr>
        <p:spPr>
          <a:xfrm>
            <a:off x="5779426" y="3689675"/>
            <a:ext cx="235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📍  Location Assignment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d89c17f5f_7_22"/>
          <p:cNvSpPr/>
          <p:nvPr/>
        </p:nvSpPr>
        <p:spPr>
          <a:xfrm>
            <a:off x="320040" y="4617720"/>
            <a:ext cx="8503800" cy="3840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d89c17f5f_7_22"/>
          <p:cNvSpPr/>
          <p:nvPr/>
        </p:nvSpPr>
        <p:spPr>
          <a:xfrm>
            <a:off x="365760" y="461772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FEATURE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384048"/>
            <a:ext cx="82296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InterLocation Transfer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2462945"/>
            <a:ext cx="2286000" cy="914400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2462945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📍 Stamford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305730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E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E85"/>
                </a:solidFill>
                <a:latin typeface="Calibri"/>
                <a:ea typeface="Calibri"/>
                <a:cs typeface="Calibri"/>
                <a:sym typeface="Calibri"/>
              </a:rPr>
              <a:t>42 bottles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429000" y="2462945"/>
            <a:ext cx="2286000" cy="914400"/>
          </a:xfrm>
          <a:prstGeom prst="rect">
            <a:avLst/>
          </a:prstGeom>
          <a:solidFill>
            <a:srgbClr val="2D3460"/>
          </a:solidFill>
          <a:ln cap="flat" cmpd="sng" w="12700">
            <a:solidFill>
              <a:srgbClr val="2D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429000" y="2463008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⇄  Transfer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29000" y="305732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A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AABF"/>
                </a:solidFill>
                <a:latin typeface="Calibri"/>
                <a:ea typeface="Calibri"/>
                <a:cs typeface="Calibri"/>
                <a:sym typeface="Calibri"/>
              </a:rPr>
              <a:t>6 units · Committed sale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361950" y="2462945"/>
            <a:ext cx="2286000" cy="914400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C0C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361950" y="2463008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A"/>
                </a:solidFill>
                <a:latin typeface="Georgia"/>
                <a:ea typeface="Georgia"/>
                <a:cs typeface="Georgia"/>
                <a:sym typeface="Georgia"/>
              </a:rPr>
              <a:t>📍 Westport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361950" y="305732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7A5A"/>
                </a:solidFill>
                <a:latin typeface="Calibri"/>
                <a:ea typeface="Calibri"/>
                <a:cs typeface="Calibri"/>
                <a:sym typeface="Calibri"/>
              </a:rPr>
              <a:t>28 → 34 bottles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2743200" y="2920145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5676150" y="2920145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d89c17f5f_1_29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2D3460"/>
          </a:solidFill>
          <a:ln cap="flat" cmpd="sng" w="12700">
            <a:solidFill>
              <a:srgbClr val="2D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d89c17f5f_1_29"/>
          <p:cNvSpPr/>
          <p:nvPr/>
        </p:nvSpPr>
        <p:spPr>
          <a:xfrm>
            <a:off x="45720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d89c17f5f_1_29"/>
          <p:cNvSpPr/>
          <p:nvPr/>
        </p:nvSpPr>
        <p:spPr>
          <a:xfrm>
            <a:off x="457200" y="384048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Disclaimer &amp; Technical Debt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d89c17f5f_1_29"/>
          <p:cNvSpPr/>
          <p:nvPr/>
        </p:nvSpPr>
        <p:spPr>
          <a:xfrm>
            <a:off x="351225" y="1438925"/>
            <a:ext cx="8229600" cy="3528300"/>
          </a:xfrm>
          <a:prstGeom prst="rect">
            <a:avLst/>
          </a:prstGeom>
          <a:solidFill>
            <a:srgbClr val="ECEEF8"/>
          </a:solidFill>
          <a:ln cap="flat" cmpd="sng" w="12700">
            <a:solidFill>
              <a:srgbClr val="DDE0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The frontend of our system is </a:t>
            </a:r>
            <a:r>
              <a:rPr b="1" lang="en-US" sz="1900">
                <a:solidFill>
                  <a:schemeClr val="dk1"/>
                </a:solidFill>
              </a:rPr>
              <a:t>a single HTML file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Data is </a:t>
            </a:r>
            <a:r>
              <a:rPr b="1" lang="en-US" sz="1900">
                <a:solidFill>
                  <a:schemeClr val="dk1"/>
                </a:solidFill>
              </a:rPr>
              <a:t>stored in the web browser</a:t>
            </a:r>
            <a:r>
              <a:rPr lang="en-US" sz="1900">
                <a:solidFill>
                  <a:schemeClr val="dk1"/>
                </a:solidFill>
              </a:rPr>
              <a:t>, but can be saved to a file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The backend of our system is an </a:t>
            </a:r>
            <a:r>
              <a:rPr b="1" lang="en-US" sz="1900">
                <a:solidFill>
                  <a:schemeClr val="dk1"/>
                </a:solidFill>
              </a:rPr>
              <a:t>online AI service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AI </a:t>
            </a:r>
            <a:r>
              <a:rPr b="1" lang="en-US" sz="1900">
                <a:solidFill>
                  <a:schemeClr val="dk1"/>
                </a:solidFill>
              </a:rPr>
              <a:t>receives from </a:t>
            </a:r>
            <a:r>
              <a:rPr b="1" lang="en-US" sz="1900">
                <a:solidFill>
                  <a:schemeClr val="dk1"/>
                </a:solidFill>
              </a:rPr>
              <a:t>the user</a:t>
            </a:r>
            <a:r>
              <a:rPr lang="en-US" sz="1900">
                <a:solidFill>
                  <a:schemeClr val="dk1"/>
                </a:solidFill>
              </a:rPr>
              <a:t> invoices, statements, or raw data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PII and PCI s</a:t>
            </a:r>
            <a:r>
              <a:rPr b="1" lang="en-US" sz="1900">
                <a:solidFill>
                  <a:schemeClr val="dk1"/>
                </a:solidFill>
              </a:rPr>
              <a:t>hould never be inputted</a:t>
            </a:r>
            <a:r>
              <a:rPr lang="en-US" sz="1900">
                <a:solidFill>
                  <a:schemeClr val="dk1"/>
                </a:solidFill>
              </a:rPr>
              <a:t> into the system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PII and PCI </a:t>
            </a:r>
            <a:r>
              <a:rPr b="1" lang="en-US" sz="1900">
                <a:solidFill>
                  <a:schemeClr val="dk1"/>
                </a:solidFill>
              </a:rPr>
              <a:t>require protection</a:t>
            </a:r>
            <a:r>
              <a:rPr lang="en-US" sz="1900">
                <a:solidFill>
                  <a:schemeClr val="dk1"/>
                </a:solidFill>
              </a:rPr>
              <a:t> according to standards/regulations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System requires audits and maintenance by </a:t>
            </a:r>
            <a:r>
              <a:rPr b="1" lang="en-US" sz="1900">
                <a:solidFill>
                  <a:schemeClr val="dk1"/>
                </a:solidFill>
              </a:rPr>
              <a:t>a technologist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10" name="Google Shape;210;g3dd89c17f5f_1_29"/>
          <p:cNvSpPr/>
          <p:nvPr/>
        </p:nvSpPr>
        <p:spPr>
          <a:xfrm>
            <a:off x="45720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Final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89c17f5f_11_0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A1F3A"/>
          </a:solidFill>
          <a:ln cap="flat" cmpd="sng" w="12700">
            <a:solidFill>
              <a:srgbClr val="1A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d89c17f5f_11_0"/>
          <p:cNvSpPr/>
          <p:nvPr/>
        </p:nvSpPr>
        <p:spPr>
          <a:xfrm>
            <a:off x="457200" y="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8890B0"/>
                </a:solidFill>
                <a:latin typeface="Georgia"/>
                <a:ea typeface="Georgia"/>
                <a:cs typeface="Georgia"/>
                <a:sym typeface="Georgia"/>
              </a:rPr>
              <a:t>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dd89c17f5f_11_0"/>
          <p:cNvSpPr/>
          <p:nvPr/>
        </p:nvSpPr>
        <p:spPr>
          <a:xfrm>
            <a:off x="457200" y="384048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Indigo Wellness Inventory Control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g3dd89c17f5f_11_0" title="Video Projec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329998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A5A"/>
          </a:solidFill>
          <a:ln cap="flat" cmpd="sng" w="12700">
            <a:solidFill>
              <a:srgbClr val="4A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56032" y="0"/>
            <a:ext cx="64008" cy="5143500"/>
          </a:xfrm>
          <a:prstGeom prst="rect">
            <a:avLst/>
          </a:prstGeom>
          <a:solidFill>
            <a:srgbClr val="A07830"/>
          </a:solidFill>
          <a:ln cap="flat" cmpd="sng" w="12700">
            <a:solidFill>
              <a:srgbClr val="A07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48640" y="8229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21488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Built for Indigo Wellness — Stamford &amp; Westport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0"/>
          <p:cNvCxnSpPr/>
          <p:nvPr/>
        </p:nvCxnSpPr>
        <p:spPr>
          <a:xfrm>
            <a:off x="548640" y="274320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548640" y="2880360"/>
            <a:ext cx="7772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✓  Per-location stock tracking — Stamford &amp; Westport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✓  Smart reorder points from batch size + lead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✓  Shipment management with AI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✓  Inter-location transfer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✓  Stockout forecast &amp; daily usage rates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858000" y="2926080"/>
            <a:ext cx="2560320" cy="2560320"/>
          </a:xfrm>
          <a:prstGeom prst="ellipse">
            <a:avLst/>
          </a:prstGeom>
          <a:solidFill>
            <a:srgbClr val="3D4580">
              <a:alpha val="30196"/>
            </a:srgbClr>
          </a:solidFill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3460">
              <a:alpha val="50196"/>
            </a:srgbClr>
          </a:solidFill>
          <a:ln cap="flat" cmpd="sng" w="12700">
            <a:solidFill>
              <a:srgbClr val="2D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D4580">
              <a:alpha val="40000"/>
            </a:srgbClr>
          </a:solidFill>
          <a:ln cap="flat" cmpd="sng" w="12700">
            <a:solidFill>
              <a:srgbClr val="3D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Q&amp;A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Questions, feedback, and discussion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828800" y="329184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How does this fit with our existing booking system?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Who updates quantities — front desk or back office?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0B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8890B0"/>
                </a:solidFill>
                <a:latin typeface="Calibri"/>
                <a:ea typeface="Calibri"/>
                <a:cs typeface="Calibri"/>
                <a:sym typeface="Calibri"/>
              </a:rPr>
              <a:t>How do we handle product variants (size, color)?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2026-05-05T17:51:23Z</dcterms:created>
  <dc:creator>PptxGenJS</dc:creator>
</cp:coreProperties>
</file>